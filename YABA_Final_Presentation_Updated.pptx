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4" r:id="rId25"/>
    <p:sldId id="267" r:id="rId18"/>
    <p:sldId id="268" r:id="rId19"/>
    <p:sldId id="269" r:id="rId20"/>
    <p:sldId id="270" r:id="rId21"/>
    <p:sldId id="271" r:id="rId22"/>
    <p:sldId id="272" r:id="rId23"/>
    <p:sldId id="275" r:id="rId26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slide" Target="slides/slide19.xml"/>
  <Relationship Id="rId26" Type="http://schemas.openxmlformats.org/officeDocument/2006/relationships/slide" Target="slides/slide20.xml"/>
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</c:v>
                </c:pt>
              </c:strCache>
            </c:strRef>
          </c:tx>
          <c:spPr>
            <a:ln w="38100">
              <a:solidFill>
                <a:srgbClr val="0D948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3200</c:v>
                </c:pt>
                <c:pt idx="1">
                  <c:v>3400</c:v>
                </c:pt>
                <c:pt idx="2">
                  <c:v>3100</c:v>
                </c:pt>
                <c:pt idx="3">
                  <c:v>3800</c:v>
                </c:pt>
                <c:pt idx="4">
                  <c:v>4000</c:v>
                </c:pt>
                <c:pt idx="5">
                  <c:v>4250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dPt>
            <c:idx val="0"/>
            <c:spPr>
              <a:solidFill>
                <a:srgbClr val="0D9488"/>
              </a:solidFill>
            </c:spPr>
          </c:dPt>
          <c:dPt>
            <c:idx val="1"/>
            <c:spPr>
              <a:solidFill>
                <a:srgbClr val="E2E8F0"/>
              </a:solidFill>
            </c:spPr>
          </c:dPt>
          <c:cat>
            <c:strRef>
              <c:f>Sheet1!$A$2:$A$3</c:f>
              <c:strCache>
                <c:ptCount val="2"/>
                <c:pt idx="0">
                  <c:v>Saved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Income</c:v>
                </c:pt>
              </c:strCache>
            </c:strRef>
          </c:tx>
          <c:dPt>
            <c:idx val="0"/>
            <c:spPr>
              <a:solidFill>
                <a:srgbClr val="0D9488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BD1F"/>
              </a:solidFill>
            </c:spPr>
          </c:dPt>
          <c:cat>
            <c:strRef>
              <c:f>Sheet1!$A$2:$A$5</c:f>
              <c:strCache>
                <c:ptCount val="4"/>
                <c:pt idx="0">
                  <c:v>Salary</c:v>
                </c:pt>
                <c:pt idx="1">
                  <c:v>Freelance</c:v>
                </c:pt>
                <c:pt idx="2">
                  <c:v>Investments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Sheet1!$A$2:$A$6</c:f>
              <c:strCache>
                <c:ptCount val="5"/>
                <c:pt idx="0">
                  <c:v>Rent</c:v>
                </c:pt>
                <c:pt idx="1">
                  <c:v>Food</c:v>
                </c:pt>
                <c:pt idx="2">
                  <c:v>Transport</c:v>
                </c:pt>
                <c:pt idx="3">
                  <c:v>Utilities</c:v>
                </c:pt>
                <c:pt idx="4">
                  <c:v>Entertainment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450</c:v>
                </c:pt>
                <c:pt idx="2">
                  <c:v>200</c:v>
                </c:pt>
                <c:pt idx="3">
                  <c:v>150</c:v>
                </c:pt>
                <c:pt idx="4">
                  <c:v>180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 i="0">
                <a:solidFill>
                  <a:srgbClr val="FFFFFF"/>
                </a:solidFill>
                <a:latin typeface="Calibri"/>
              </a:defRPr>
            </a:pPr>
            <a:r>
              <a:t>YABA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0" i="1">
                <a:solidFill>
                  <a:srgbClr val="14B8A6"/>
                </a:solidFill>
                <a:latin typeface="Calibri"/>
              </a:defRPr>
            </a:pPr>
            <a:r>
              <a:t>Yet Another Budgeting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38328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/>
              </a:defRPr>
            </a:pPr>
            <a:r>
              <a:t>Jack Woodward  ·  Ryan Krell  ·  Kushith Konidela  ·  Ben McNamee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Client: Jacob Hendricks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August 8, 2026  ·  Updated Final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GROUP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Today's 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D948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Issues with current budgeting apps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01168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19456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D948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6974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06324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What YABA brings to the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8" y="201168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8" y="219456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D948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8" y="26974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8" y="306324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Shared budgeting, waterfall funding, forecasts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D948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6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Live Demo &amp;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Walkthrough, architecture &amp; tech stack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420624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D948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470916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Testing &amp;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5074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100 tests, plus migration verification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4023360"/>
            <a:ext cx="33832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8" y="4206240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D948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470916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5074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What's next for YABA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Why Existing Apps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2120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18288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3172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37360" y="228600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Too Slow &amp;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97480"/>
            <a:ext cx="3840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Popular apps like YNAB require tedious manual entry for every transaction, wasting users'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2120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33172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228600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Lack of Flexibility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97480"/>
            <a:ext cx="3840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Rigid category systems don't adapt to different financial lifestyles and spending habits.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2120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4864" cy="1828800"/>
          </a:xfrm>
          <a:prstGeom prst="rect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52628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37360" y="448056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No Needs vs. Wants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892040"/>
            <a:ext cx="3840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No clear distinction between essential expenses and discretionary spending.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06240"/>
            <a:ext cx="52120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206240"/>
            <a:ext cx="54864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26280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0" y="448056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No Shared Budgeting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892040"/>
            <a:ext cx="3840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Limited or no support for couples, families, or roommates managing shared finances.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What YABA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0240" y="20574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Fast, Low-Friction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395728"/>
            <a:ext cx="8686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Record an expense in seconds, or upload a receipt that is queued and processed in the background while you carry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3756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324612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Full User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584448"/>
            <a:ext cx="8686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Rank your recurring bills by priority and cap everyday categories with budgets that match how you actually live.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2628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44348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Needs vs. Wants Categorization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73168"/>
            <a:ext cx="8686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Clearly separate essential expenses from discretionary spending to make smarter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8640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71500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20240" y="562356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Shared Budgeting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961888"/>
            <a:ext cx="8686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Share a budget with family or flatmates — three access levels, one ledger, and your personal budget stays private.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How Shared Budgeting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Now built: a household owns the money, invitations arrive in-app, and every write route is permission-checked.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Three roles set per member, per budget — Owner, Editor, Viewer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Every entry records who added it, in the list and the CSV export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Your private budget stays private when you join a shared one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Removing a member keeps their entries, so totals never 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920240"/>
            <a:ext cx="4846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920240"/>
            <a:ext cx="54864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Members, invitations and renaming — and the only role that may move savings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474720"/>
            <a:ext cx="4846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474720"/>
            <a:ext cx="54864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6576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02336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Adds and edits income, expenses, bills and budgets — but not savings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5029200"/>
            <a:ext cx="48463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5029200"/>
            <a:ext cx="54864" cy="12344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521208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Viewer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577840"/>
            <a:ext cx="4297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Sees every figure and chart. Changes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Project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23317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774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Templates + CSS</a:t>
            </a:r>
            <a:br/>
            <a:r>
              <a:t>Chart.js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38912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Server-rendered pages,</a:t>
            </a:r>
            <a:br/>
            <a:r>
              <a:t>escaped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3749040"/>
            <a:ext cx="228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88920" y="2103120"/>
            <a:ext cx="2103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2331720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3774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017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internal/web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47472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4B8A6"/>
                </a:solidFill>
                <a:latin typeface="Calibri"/>
              </a:defRPr>
            </a:pPr>
            <a:r>
              <a:t>Handlers</a:t>
            </a:r>
            <a:br/>
            <a:r>
              <a:t>Middleware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8912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Routing, sessions, CSRF,</a:t>
            </a:r>
            <a:br/>
            <a:r>
              <a:t>role permissions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3749040"/>
            <a:ext cx="228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210312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97880" y="23317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23774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017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internal/store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47472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B981"/>
                </a:solidFill>
                <a:latin typeface="Calibri"/>
              </a:defRPr>
            </a:pPr>
            <a:r>
              <a:t>All SQL</a:t>
            </a:r>
            <a:br/>
            <a:r>
              <a:t>Money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38912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Integer cents; the only</a:t>
            </a:r>
            <a:br/>
            <a:r>
              <a:t>package writing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3749040"/>
            <a:ext cx="228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5236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2103120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0" y="233172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3774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017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internal/db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47472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8B5CF6"/>
                </a:solidFill>
                <a:latin typeface="Calibri"/>
              </a:defRPr>
            </a:pPr>
            <a:r>
              <a:t>SQLite</a:t>
            </a:r>
            <a:br/>
            <a:r>
              <a:t>Migrations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38912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Versioned changes, one</a:t>
            </a:r>
            <a:br/>
            <a:r>
              <a:t>transaction each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73768" y="3749040"/>
            <a:ext cx="228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4080" y="2103120"/>
            <a:ext cx="210312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61320" y="2331720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61320" y="2377440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30175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E293B"/>
                </a:solidFill>
                <a:latin typeface="Calibri"/>
              </a:defRPr>
            </a:pPr>
            <a:r>
              <a:t>insight + worker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474720"/>
            <a:ext cx="1828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F96167"/>
                </a:solidFill>
                <a:latin typeface="Calibri"/>
              </a:defRPr>
            </a:pPr>
            <a:r>
              <a:t>Forecasts</a:t>
            </a:r>
            <a:br/>
            <a:r>
              <a:t>Background Jobs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438912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Trend lines, ranges and</a:t>
            </a:r>
            <a:br/>
            <a:r>
              <a:t>the receipt queue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Current Funds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Cash and net worth derived from your transactions on every page load — never stored, so never stale.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Cash = income + withdrawals − expenses − deposits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A least-squares trend line fitted over the balance history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Money moved to savings is a transfer, not spending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Every amount held as whole cents, so totals never drift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01168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D9488"/>
                </a:solidFill>
                <a:latin typeface="Calibri"/>
              </a:defRPr>
            </a:pPr>
            <a:r>
              <a:t>$4,250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Current Balance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01168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D9488"/>
                </a:solidFill>
                <a:latin typeface="Calibri"/>
              </a:defRPr>
            </a:pPr>
            <a:r>
              <a:t>$1,820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Monthly Income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2011680"/>
            <a:ext cx="1645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210312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D9488"/>
                </a:solidFill>
                <a:latin typeface="Calibri"/>
              </a:defRPr>
            </a:pPr>
            <a:r>
              <a:t>$1,340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Monthly Expenses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00800" y="338328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Emergency Fund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Target sized from your own essential bills — three months by default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Covers: how many months of essentials the balance would pay for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Will last: projected from the rate you actually withdraw</a:t>
            </a:r>
          </a:p>
          <a:p>
            <a:pPr marL="320040" indent="-228600"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Warns when less than one month of essentials is covered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0" y="182880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512064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65% of goal reached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Expected Monthly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A 90% range rather than a single figure — because one number is false precision if your income varies.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Groups income by source and charts the distribution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Range built from the mean and sample standard deviation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Months with no income are excluded, not counted as zero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Under three months of history it says so instead of guessing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Supports several streams — salary, freelance, investments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0" y="2011680"/>
          <a:ext cx="43891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Income Feature —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Click 'Add Income'</a:t>
            </a:r>
            <a:br/>
            <a:r>
              <a:t>Fill source, date,</a:t>
            </a:r>
            <a:br/>
            <a:r>
              <a:t>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103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237744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API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Form submits via</a:t>
            </a:r>
            <a:br/>
            <a:r>
              <a:t>POST /income</a:t>
            </a:r>
            <a:br/>
            <a:r>
              <a:t>to Go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10312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377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Parsed to whole cents,</a:t>
            </a:r>
            <a:br/>
            <a:r>
              <a:t>checked, then one</a:t>
            </a:r>
            <a:br/>
            <a:r>
              <a:t>row inserted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2103120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83880" y="237744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Income pours down</a:t>
            </a:r>
            <a:br/>
            <a:r>
              <a:t>the ranked bill list,</a:t>
            </a:r>
            <a:br/>
            <a:r>
              <a:t>top priority first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2103120"/>
            <a:ext cx="2103120" cy="54864"/>
          </a:xfrm>
          <a:prstGeom prst="rect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15600" y="2377440"/>
            <a:ext cx="548640" cy="548640"/>
          </a:xfrm>
          <a:prstGeom prst="ellipse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Visualization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Chart.js reads JSON</a:t>
            </a:r>
            <a:br/>
            <a:r>
              <a:t>from data attributes</a:t>
            </a:r>
            <a:br/>
            <a:r>
              <a:t>and draws the charts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Monthly Expected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400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Rank your recurring bills, and income funds them from the top down until it runs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Ranked bills: rent before the gym, every month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Fixed bills carry an amount; variable ones learn from history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Shows which bill is short before the payment is due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Split one shop trip across several categories</a:t>
            </a:r>
          </a:p>
          <a:p>
            <a:pPr marL="320040" indent="-228600">
              <a:spcAft>
                <a:spcPts val="1200"/>
              </a:spcAft>
              <a:defRPr sz="1500">
                <a:solidFill>
                  <a:srgbClr val="1E293B"/>
                </a:solidFill>
                <a:latin typeface="Calibri"/>
              </a:defRPr>
              <a:buChar char="●"/>
              <a:buClr>
                <a:srgbClr val="0D9488"/>
              </a:buClr>
            </a:pPr>
            <a:r>
              <a:t>Category budgets cap everyday spending such as food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0" y="2011680"/>
          <a:ext cx="48463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Expense Feature —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Add Expense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Click 'Add Expense'</a:t>
            </a:r>
            <a:br/>
            <a:r>
              <a:t>Choose manual or</a:t>
            </a:r>
            <a:br/>
            <a:r>
              <a:t>upload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103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237744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Enter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Select category,</a:t>
            </a:r>
            <a:br/>
            <a:r>
              <a:t>enter date and</a:t>
            </a:r>
            <a:br/>
            <a:r>
              <a:t>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10312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377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POST /expense</a:t>
            </a:r>
            <a:br/>
            <a:r>
              <a:t>Go handler validates</a:t>
            </a:r>
            <a:br/>
            <a:r>
              <a:t>and processes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2103120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83880" y="237744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One row, owned by</a:t>
            </a:r>
            <a:br/>
            <a:r>
              <a:t>the household, labelled</a:t>
            </a:r>
            <a:br/>
            <a:r>
              <a:t>with who added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2103120"/>
            <a:ext cx="2103120" cy="54864"/>
          </a:xfrm>
          <a:prstGeom prst="rect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15600" y="2377440"/>
            <a:ext cx="548640" cy="548640"/>
          </a:xfrm>
          <a:prstGeom prst="ellipse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Totals regrouped and</a:t>
            </a:r>
            <a:br/>
            <a:r>
              <a:t>bill funding</a:t>
            </a:r>
            <a:br/>
            <a:r>
              <a:t>recalculated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CORE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How the Money Adds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3383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D9488"/>
                </a:solidFill>
                <a:latin typeface="Calibri"/>
              </a:defRPr>
            </a:pPr>
            <a:r>
              <a:t>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Salary + Other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= Total Income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1031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03120"/>
            <a:ext cx="338328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96167"/>
                </a:solidFill>
                <a:latin typeface="Calibri"/>
              </a:defRPr>
            </a:pPr>
            <a:r>
              <a:t>Expenses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834640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Rent + Food + Transport +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4747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96167"/>
                </a:solidFill>
                <a:latin typeface="Calibri"/>
              </a:defRPr>
            </a:pPr>
            <a:r>
              <a:t>= Total Expenses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21031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210312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8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0B981"/>
                </a:solidFill>
                <a:latin typeface="Calibri"/>
              </a:defRPr>
            </a:pPr>
            <a:r>
              <a:t>Net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8" y="2834640"/>
            <a:ext cx="2834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E293B"/>
                </a:solidFill>
                <a:latin typeface="Calibri"/>
              </a:defRPr>
            </a:pPr>
            <a:r>
              <a:t>Income − Expenses (transfers cancel)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34747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B981"/>
                </a:solidFill>
                <a:latin typeface="Calibri"/>
              </a:defRPr>
            </a:pPr>
            <a:r>
              <a:t>= Net Worth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389120"/>
            <a:ext cx="106984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720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Integer Cents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3776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Every amount is a</a:t>
            </a:r>
            <a:br/>
            <a:r>
              <a:t>whole number of cents,</a:t>
            </a:r>
            <a:br/>
            <a:r>
              <a:t>so sums never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5720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Derived, Not Stored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93776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Fund balances are</a:t>
            </a:r>
            <a:br/>
            <a:r>
              <a:t>computed per read, so</a:t>
            </a:r>
            <a:br/>
            <a:r>
              <a:t>they cannot be wrong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5720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Four Kinds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937760"/>
            <a:ext cx="27432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Deposits are transfers,</a:t>
            </a:r>
            <a:br/>
            <a:r>
              <a:t>not spending — so they</a:t>
            </a:r>
            <a:br/>
            <a:r>
              <a:t>leave net worth alone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4B8A6"/>
                </a:solidFill>
                <a:latin typeface="Calibri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Mock UI &amp; Live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9418320" cy="411480"/>
          </a:xfrm>
          <a:prstGeom prst="rect">
            <a:avLst/>
          </a:prstGeom>
          <a:solidFill>
            <a:srgbClr val="2D3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103120"/>
            <a:ext cx="137160" cy="1371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2103120"/>
            <a:ext cx="137160" cy="137160"/>
          </a:xfrm>
          <a:prstGeom prst="ellipse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03120" y="210312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2084831"/>
            <a:ext cx="5486400" cy="256032"/>
          </a:xfrm>
          <a:prstGeom prst="rect">
            <a:avLst/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084831"/>
            <a:ext cx="5029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localhost:8000/dashboard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423160"/>
            <a:ext cx="9418320" cy="3931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2423160"/>
            <a:ext cx="2011680" cy="3931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60604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4B8A6"/>
                </a:solidFill>
                <a:latin typeface="Calibri"/>
              </a:defRPr>
            </a:pPr>
            <a:r>
              <a:t>YABA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108960"/>
            <a:ext cx="2011680" cy="365760"/>
          </a:xfrm>
          <a:prstGeom prst="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15468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5661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7764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8912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Sharing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006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/>
              </a:defRPr>
            </a:pPr>
            <a:r>
              <a:t>Log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651760"/>
            <a:ext cx="2103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D9488"/>
                </a:solidFill>
                <a:latin typeface="Calibri"/>
              </a:defRPr>
            </a:pPr>
            <a:r>
              <a:t>$4,250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1546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t>Current Balance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651760"/>
            <a:ext cx="2103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0B981"/>
                </a:solidFill>
                <a:latin typeface="Calibri"/>
              </a:defRPr>
            </a:pPr>
            <a:r>
              <a:t>$1,820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1546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t>Monthly Income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2651760"/>
            <a:ext cx="21031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7432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96167"/>
                </a:solidFill>
                <a:latin typeface="Calibri"/>
              </a:defRPr>
            </a:pPr>
            <a:r>
              <a:t>$1,340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15468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t>Monthly Expenses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3794760"/>
            <a:ext cx="68580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57200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64748B"/>
                </a:solidFill>
                <a:latin typeface="Calibri"/>
              </a:defRPr>
            </a:pPr>
            <a:r>
              <a:t>[ Live Demo — Expense Timeline Chart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2120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2120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D9488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Backend &amp;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Six layered packages, dependencies pointing one way.</a:t>
            </a:r>
            <a:br/>
            <a:r>
              <a:t>Compiles to a single binary. Three dependencies.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2120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212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10B981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Database &amp;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Twelve tables, 34 indexes, four versioned migrations.</a:t>
            </a:r>
            <a:br/>
            <a:r>
              <a:t>Foreign keys and CHECK constraints enforced.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06240"/>
            <a:ext cx="52120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5212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434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8B5CF6"/>
                </a:solidFill>
                <a:latin typeface="Calibri"/>
              </a:defRPr>
            </a:pPr>
            <a:r>
              <a:t>HTML /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920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Frontend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Responsive templates, escaped automatically by Go.</a:t>
            </a:r>
            <a:br/>
            <a:r>
              <a:t>Core forms still work with JavaScript disabled.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06240"/>
            <a:ext cx="52120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206240"/>
            <a:ext cx="5212080" cy="54864"/>
          </a:xfrm>
          <a:prstGeom prst="rect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434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5BD1F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892040"/>
            <a:ext cx="4389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Data Visualization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257800"/>
            <a:ext cx="43891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Doughnuts, a balance line with its trend, monthly bars —</a:t>
            </a:r>
            <a:br/>
            <a:r>
              <a:t>data passed as JSON in attributes, never as code.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Repository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777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96167"/>
                </a:solidFill>
                <a:latin typeface="Consolas"/>
              </a:defRPr>
            </a:pPr>
            <a:r>
              <a:t>internal/web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HTTP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128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Handlers, middleware, templates, sessions and role permissions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54864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D9488"/>
                </a:solidFill>
                <a:latin typeface="Consolas"/>
              </a:defRPr>
            </a:pPr>
            <a:r>
              <a:t>internal/store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272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Every SQL statement in the project, and the money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54864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947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4B8A6"/>
                </a:solidFill>
                <a:latin typeface="Consolas"/>
              </a:defRPr>
            </a:pPr>
            <a:r>
              <a:t>internal/db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490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416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Connection settings and the four versioned migrations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709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0B981"/>
                </a:solidFill>
                <a:latin typeface="Consolas"/>
              </a:defRPr>
            </a:pPr>
            <a:r>
              <a:t>internal/insight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634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9560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Trend fitting, income ranges, emergency-fund assessment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86400"/>
            <a:ext cx="106984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48640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6235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8B5CF6"/>
                </a:solidFill>
                <a:latin typeface="Consolas"/>
              </a:defRPr>
            </a:pPr>
            <a:r>
              <a:t>money + worker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5778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Foundations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87044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Integer-cents arithmetic, and the background receipt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D9488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Test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14884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10B98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8803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Packages 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8" y="201168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8" y="214884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5BD1F"/>
                </a:solidFill>
                <a:latin typeface="Calibri"/>
              </a:defRPr>
            </a:pPr>
            <a:r>
              <a:t>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28803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SQLite Per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2606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Invariant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Asserts rules that must always hold — a transfer never changes net worth, a fund never goes negative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3840480"/>
            <a:ext cx="26060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Permission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Drives real HTTP requests as each role, proving a viewer cannot write and an editor cannot move savings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Regression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One test exists purely to prove that closing a fund cannot be told what the balance 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384048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Isolation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Confirms two households can never see each other’s money, however the request is shaped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2286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D948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Backups &amp; Session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Automated backups with a tested restore, and server-side</a:t>
            </a:r>
            <a:br/>
            <a:r>
              <a:t>sessions so a login can actually be revoked.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201168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011680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1945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0B981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5146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HTTPS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971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Secure the application with SSL/TLS encryption,</a:t>
            </a:r>
            <a:br/>
            <a:r>
              <a:t>making it safe for public deployment.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201168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2011680"/>
            <a:ext cx="54864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8" y="21945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B5CF6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8" y="25146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Receipt Text 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8" y="29718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The upload queue is already built — this adds the reading</a:t>
            </a:r>
            <a:br/>
            <a:r>
              <a:t>step behind the one interface it was designed for.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Jack Woodward  ·  Ryan Krell  ·  Kushith Konidela  ·  Ben McNamee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1">
                <a:solidFill>
                  <a:srgbClr val="14B8A6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CORE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Priority Waterfall — How Bills Get Funded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1031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Rank Bills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Rent, power, gym —</a:t>
            </a:r>
            <a:br/>
            <a:r>
              <a:t>you set the order</a:t>
            </a:r>
            <a:br/>
            <a:r>
              <a:t>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2103120"/>
            <a:ext cx="21031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40" y="237744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Income Arrives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$1,500 lands in</a:t>
            </a:r>
            <a:br/>
            <a:r>
              <a:t>the budget this</a:t>
            </a:r>
            <a:br/>
            <a:r>
              <a:t>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2103120"/>
            <a:ext cx="2103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52160" y="237744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Pour Downwards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Rent $900 filled,</a:t>
            </a:r>
            <a:br/>
            <a:r>
              <a:t>then power $120,</a:t>
            </a:r>
            <a:br/>
            <a:r>
              <a:t>then internet $60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2103120"/>
            <a:ext cx="2103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83880" y="237744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Money Runs 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Car needs $500 but</a:t>
            </a:r>
            <a:br/>
            <a:r>
              <a:t>only $420 is left —</a:t>
            </a:r>
            <a:br/>
            <a:r>
              <a:t>flagged as short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73768" y="3749040"/>
            <a:ext cx="228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E2E8F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10312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84080" y="2103120"/>
            <a:ext cx="2103120" cy="54864"/>
          </a:xfrm>
          <a:prstGeom prst="rect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15600" y="2377440"/>
            <a:ext cx="548640" cy="548640"/>
          </a:xfrm>
          <a:prstGeom prst="ellipse">
            <a:avLst/>
          </a:prstGeom>
          <a:solidFill>
            <a:srgbClr val="F5B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24231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10896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1E293B"/>
                </a:solidFill>
                <a:latin typeface="Calibri"/>
              </a:defRPr>
            </a:pPr>
            <a:r>
              <a:t>Recomputed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566160"/>
            <a:ext cx="1828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Any edit re-pours</a:t>
            </a:r>
            <a:br/>
            <a:r>
              <a:t>the month. Running it</a:t>
            </a:r>
            <a:br/>
            <a:r>
              <a:t>twice changes nothing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B2A4A"/>
                </a:solidFill>
                <a:latin typeface="Calibri"/>
              </a:defRPr>
            </a:pPr>
            <a:r>
              <a:t>Migrating Without Losing a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D9488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Transactions Kept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01168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14884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10B981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8803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Accounts Kept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8" y="2011680"/>
            <a:ext cx="3383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8" y="214884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5BD1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288036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Rows Lost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2606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Additive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ADD COLUMN and CREATE, never DROP or rebuild — with foreign keys on, a rebuild would cascade and delete every transaction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566160" y="3840480"/>
            <a:ext cx="260604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One Transaction Each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 migration applies fully or rolls back fully, recording its own version in the same transaction as the change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26060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Verified On A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Applied to a copy of the live database first, asserting per-person cash totals identical to the cent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840480"/>
            <a:ext cx="26060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3840480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41148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1E293B"/>
                </a:solidFill>
                <a:latin typeface="Calibri"/>
              </a:defRPr>
            </a:pPr>
            <a:r>
              <a:t>Refuses To Guess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572000"/>
            <a:ext cx="22402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If one row would be left unassigned it aborts — a silently vanishing row looks exactly like data loss to a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4748B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